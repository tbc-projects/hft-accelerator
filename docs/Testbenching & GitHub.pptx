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Encode Sans Black"/>
      <p:bold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ncodeSansBlack-bold.fntdata"/><Relationship Id="rId14" Type="http://schemas.openxmlformats.org/officeDocument/2006/relationships/slide" Target="slides/slide9.xml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02f1ec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90c02f1ec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02f1ec8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0c02f1ec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5e8c0d52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5e8c0d5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Intros to officers. OFFICERS ARRIVE 15 MINS EARLY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d2aa6f326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d2aa6f32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Josh talk about Bot if finished?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d987ccb54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d987ccb5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0c02f1ec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0c02f1e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0c02f1ec8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0c02f1ec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0c02f1ec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0c02f1ec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d2aa6f32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d2aa6f32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">
  <p:cSld name="1_Custom Layout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idx="1" type="body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W Logo_Purple_2685_HEX.png" id="8" name="Google Shape;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874" y="1363508"/>
            <a:ext cx="1090095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460375" y="369733"/>
            <a:ext cx="8184662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Boundless">
  <p:cSld name="1_Title 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9461" y="3426449"/>
            <a:ext cx="1597439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599107"/>
            <a:ext cx="2416273" cy="212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 Logo_Purple_2685_HEX.png" id="14" name="Google Shape;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UW">
  <p:cSld name="Title 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 Logo_Purple_2685_HEX.png" id="17" name="Google Shape;1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461" y="3426449"/>
            <a:ext cx="1597439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085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type="title"/>
          </p:nvPr>
        </p:nvSpPr>
        <p:spPr>
          <a:xfrm>
            <a:off x="460375" y="644993"/>
            <a:ext cx="697230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Custom Layou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None/>
              <a:defRPr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Open Sans"/>
              <a:buNone/>
              <a:defRPr i="0" sz="28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Open Sans"/>
              <a:buNone/>
              <a:defRPr i="0" sz="24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Open Sans"/>
              <a:buNone/>
              <a:defRPr i="0" sz="20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Open Sans"/>
              <a:buNone/>
              <a:defRPr i="0" sz="20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874" y="1363508"/>
            <a:ext cx="1090095" cy="96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41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>
            <p:ph type="title"/>
          </p:nvPr>
        </p:nvSpPr>
        <p:spPr>
          <a:xfrm>
            <a:off x="460374" y="369733"/>
            <a:ext cx="8184657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UW 1">
  <p:cSld name="1_Title Slide">
    <p:bg>
      <p:bgPr>
        <a:solidFill>
          <a:schemeClr val="dk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W_W Logo_White.png" id="28" name="Google Shape;2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081" y="3426449"/>
            <a:ext cx="1600198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/>
          <p:nvPr>
            <p:ph type="title"/>
          </p:nvPr>
        </p:nvSpPr>
        <p:spPr>
          <a:xfrm>
            <a:off x="460375" y="644993"/>
            <a:ext cx="70236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 1">
  <p:cSld name="Header + Content"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" type="body"/>
          </p:nvPr>
        </p:nvSpPr>
        <p:spPr>
          <a:xfrm>
            <a:off x="447923" y="1730667"/>
            <a:ext cx="8197200" cy="23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4" name="Google Shape;3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5" cy="96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W_W Logo_White.png" id="35" name="Google Shape;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7"/>
          <p:cNvSpPr txBox="1"/>
          <p:nvPr>
            <p:ph type="title"/>
          </p:nvPr>
        </p:nvSpPr>
        <p:spPr>
          <a:xfrm>
            <a:off x="447923" y="369733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 1">
  <p:cSld name="Header + Subheader +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381" y="1364403"/>
            <a:ext cx="1103785" cy="96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031" y="1363508"/>
            <a:ext cx="1103785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/>
          <p:nvPr>
            <p:ph idx="1" type="body"/>
          </p:nvPr>
        </p:nvSpPr>
        <p:spPr>
          <a:xfrm>
            <a:off x="447923" y="2320239"/>
            <a:ext cx="8197200" cy="22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0375" y="1730667"/>
            <a:ext cx="81846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None/>
              <a:defRPr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algn="l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Open Sans"/>
              <a:buNone/>
              <a:defRPr i="0" sz="28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algn="l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Open Sans"/>
              <a:buNone/>
              <a:defRPr i="0" sz="24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Open Sans"/>
              <a:buNone/>
              <a:defRPr i="0" sz="20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Open Sans"/>
              <a:buNone/>
              <a:defRPr i="0" sz="2000" u="none" cap="none" strike="noStrik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42" name="Google Shape;4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5041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8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CA9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60375" y="644993"/>
            <a:ext cx="7023600" cy="2641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 Tutorial (just what u need to know)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225048" y="1511192"/>
            <a:ext cx="8197200" cy="236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spcBef>
                <a:spcPts val="48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Make your own branch from the Boring Club’s HFT Accelerator </a:t>
            </a:r>
            <a:r>
              <a:rPr lang="en-US" sz="1500"/>
              <a:t>repository</a:t>
            </a:r>
            <a:r>
              <a:rPr lang="en-US" sz="1500"/>
              <a:t>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Once you make your branch, you should have a cloned repository under your username (instead of TBCProjects/HFT-Accelerator, it will be (insert your username)/HFT-Accelerator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In your own branch, you can commit changes to the repository, and when you want to push to the TBCProjects repository, you create a pull request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You document your changes in the comments and await approval from owners of TBCProjects </a:t>
            </a:r>
            <a:endParaRPr sz="1500"/>
          </a:p>
          <a:p>
            <a:pPr indent="0" lvl="0" marL="45720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100"/>
              <a:t>I will be going </a:t>
            </a:r>
            <a:r>
              <a:rPr i="1" lang="en-US" sz="2100"/>
              <a:t>around</a:t>
            </a:r>
            <a:r>
              <a:rPr i="1" lang="en-US" sz="2100"/>
              <a:t> to assist those who have code already to push into their own folder and send to the repository</a:t>
            </a:r>
            <a:endParaRPr i="1" sz="2100"/>
          </a:p>
        </p:txBody>
      </p:sp>
      <p:sp>
        <p:nvSpPr>
          <p:cNvPr id="62" name="Google Shape;62;p11"/>
          <p:cNvSpPr txBox="1"/>
          <p:nvPr>
            <p:ph type="title"/>
          </p:nvPr>
        </p:nvSpPr>
        <p:spPr>
          <a:xfrm>
            <a:off x="460375" y="369733"/>
            <a:ext cx="81846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 to commit to repo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460375" y="644993"/>
            <a:ext cx="7023600" cy="2641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Testbenching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20850" y="1695875"/>
            <a:ext cx="8434500" cy="232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Char char="&gt;"/>
            </a:pPr>
            <a:r>
              <a:rPr lang="en-US" sz="2300">
                <a:solidFill>
                  <a:schemeClr val="dk1"/>
                </a:solidFill>
              </a:rPr>
              <a:t>In hardware, it can </a:t>
            </a:r>
            <a:r>
              <a:rPr lang="en-US" sz="2300">
                <a:solidFill>
                  <a:schemeClr val="dk1"/>
                </a:solidFill>
              </a:rPr>
              <a:t>sometimes</a:t>
            </a:r>
            <a:r>
              <a:rPr lang="en-US" sz="2300">
                <a:solidFill>
                  <a:schemeClr val="dk1"/>
                </a:solidFill>
              </a:rPr>
              <a:t> be difficult to </a:t>
            </a:r>
            <a:r>
              <a:rPr lang="en-US" sz="2300">
                <a:solidFill>
                  <a:schemeClr val="dk1"/>
                </a:solidFill>
              </a:rPr>
              <a:t>observe</a:t>
            </a:r>
            <a:r>
              <a:rPr lang="en-US" sz="2300">
                <a:solidFill>
                  <a:schemeClr val="dk1"/>
                </a:solidFill>
              </a:rPr>
              <a:t> whether you design is working or not with the human eye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&gt;"/>
            </a:pPr>
            <a:r>
              <a:rPr lang="en-US" sz="2300">
                <a:solidFill>
                  <a:schemeClr val="dk1"/>
                </a:solidFill>
              </a:rPr>
              <a:t>We would need a way to </a:t>
            </a:r>
            <a:r>
              <a:rPr lang="en-US" sz="2300">
                <a:solidFill>
                  <a:schemeClr val="dk1"/>
                </a:solidFill>
              </a:rPr>
              <a:t>observe</a:t>
            </a:r>
            <a:r>
              <a:rPr lang="en-US" sz="2300">
                <a:solidFill>
                  <a:schemeClr val="dk1"/>
                </a:solidFill>
              </a:rPr>
              <a:t> the nanoseconds at which the waveforms are </a:t>
            </a:r>
            <a:r>
              <a:rPr lang="en-US" sz="2300">
                <a:solidFill>
                  <a:schemeClr val="dk1"/>
                </a:solidFill>
              </a:rPr>
              <a:t>changing</a:t>
            </a:r>
            <a:r>
              <a:rPr lang="en-US" sz="2300">
                <a:solidFill>
                  <a:schemeClr val="dk1"/>
                </a:solidFill>
              </a:rPr>
              <a:t> (way too fast to see with the human eye)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&gt;"/>
            </a:pPr>
            <a:r>
              <a:rPr lang="en-US" sz="2300">
                <a:solidFill>
                  <a:schemeClr val="dk1"/>
                </a:solidFill>
              </a:rPr>
              <a:t>This is </a:t>
            </a:r>
            <a:r>
              <a:rPr lang="en-US" sz="2300">
                <a:solidFill>
                  <a:schemeClr val="dk1"/>
                </a:solidFill>
              </a:rPr>
              <a:t>where</a:t>
            </a:r>
            <a:r>
              <a:rPr lang="en-US" sz="2300">
                <a:solidFill>
                  <a:schemeClr val="dk1"/>
                </a:solidFill>
              </a:rPr>
              <a:t> testbenching comes in 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3" name="Google Shape;73;p13"/>
          <p:cNvSpPr txBox="1"/>
          <p:nvPr>
            <p:ph type="title"/>
          </p:nvPr>
        </p:nvSpPr>
        <p:spPr>
          <a:xfrm>
            <a:off x="420850" y="325133"/>
            <a:ext cx="81846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3085425" y="2310075"/>
            <a:ext cx="222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00198" y="1501642"/>
            <a:ext cx="8197200" cy="236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In addition to your module, you need to make another module (that will be your testbench) which </a:t>
            </a:r>
            <a:r>
              <a:rPr lang="en-US" sz="2000"/>
              <a:t>instantiates</a:t>
            </a:r>
            <a:r>
              <a:rPr lang="en-US" sz="2000"/>
              <a:t> the module you are trying to test</a:t>
            </a:r>
            <a:endParaRPr sz="20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000"/>
              <a:t>You manually set and clear the inputs in the testbench, essentially simulating what the circuit is going to do with a combination of different inputs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With testbenches, it is best to consider every edge case of your module to test its effectiveness under different conditions</a:t>
            </a:r>
            <a:endParaRPr sz="2000"/>
          </a:p>
        </p:txBody>
      </p:sp>
      <p:sp>
        <p:nvSpPr>
          <p:cNvPr id="80" name="Google Shape;80;p14"/>
          <p:cNvSpPr txBox="1"/>
          <p:nvPr>
            <p:ph type="title"/>
          </p:nvPr>
        </p:nvSpPr>
        <p:spPr>
          <a:xfrm>
            <a:off x="460375" y="369733"/>
            <a:ext cx="81846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it works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447923" y="1730667"/>
            <a:ext cx="8197200" cy="236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Test benching will provide an easy way to see whether your logic is executing </a:t>
            </a:r>
            <a:r>
              <a:rPr lang="en-US"/>
              <a:t>correctly</a:t>
            </a:r>
            <a:r>
              <a:rPr lang="en-US"/>
              <a:t> and is giving the correct outputs before programming the hardware.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We will be using a software called ModelSim to test out the different trading modules </a:t>
            </a:r>
            <a:endParaRPr/>
          </a:p>
        </p:txBody>
      </p:sp>
      <p:sp>
        <p:nvSpPr>
          <p:cNvPr id="86" name="Google Shape;86;p15"/>
          <p:cNvSpPr txBox="1"/>
          <p:nvPr>
            <p:ph type="title"/>
          </p:nvPr>
        </p:nvSpPr>
        <p:spPr>
          <a:xfrm>
            <a:off x="460375" y="369733"/>
            <a:ext cx="81846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it fits into your project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460375" y="369733"/>
            <a:ext cx="81846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Testbench Example Waveform</a:t>
            </a:r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575" y="1574275"/>
            <a:ext cx="8300328" cy="9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460375" y="369733"/>
            <a:ext cx="81846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Testbench Module Example  </a:t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16033"/>
            <a:ext cx="3310000" cy="3475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 rotWithShape="1">
          <a:blip r:embed="rId4">
            <a:alphaModFix/>
          </a:blip>
          <a:srcRect b="0" l="0" r="49561" t="0"/>
          <a:stretch/>
        </p:blipFill>
        <p:spPr>
          <a:xfrm>
            <a:off x="3595700" y="1319175"/>
            <a:ext cx="2712002" cy="258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2175" y="3900825"/>
            <a:ext cx="5741825" cy="124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60375" y="644993"/>
            <a:ext cx="7023600" cy="2641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Thanks for coming!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W Gold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